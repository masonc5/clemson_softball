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Quantico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ntico-bold.fntdata"/><Relationship Id="rId16" Type="http://schemas.openxmlformats.org/officeDocument/2006/relationships/font" Target="fonts/Quantico-regular.fntdata"/><Relationship Id="rId19" Type="http://schemas.openxmlformats.org/officeDocument/2006/relationships/font" Target="fonts/Quantico-boldItalic.fntdata"/><Relationship Id="rId18" Type="http://schemas.openxmlformats.org/officeDocument/2006/relationships/font" Target="fonts/Quantic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d401ab0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d401ab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d401ab0fc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d401ab0fc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d401ab0fc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d401ab0fc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d401ab0fc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d401ab0fc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d401ab0fc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ad401ab0fc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d401ab0fc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d401ab0fc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d401ab0fc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d401ab0fc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d401ab0fc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ad401ab0fc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d401ab0fc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d401ab0fc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d401ab0fc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d401ab0fc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2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ncaa.com/news/softball/article/2025-01-21/texas-tops-2025-preseason-espncom/usa-softball-poll" TargetMode="External"/><Relationship Id="rId4" Type="http://schemas.openxmlformats.org/officeDocument/2006/relationships/image" Target="../media/image7.jp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www.on3.com/rivals/rankings/team/softball/2026/" TargetMode="External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/>
              <a:t>Mason Castellan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6000"/>
              <a:t>Clemson Softball 2025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437" name="Google Shape;437;p48"/>
          <p:cNvSpPr/>
          <p:nvPr/>
        </p:nvSpPr>
        <p:spPr>
          <a:xfrm flipH="1">
            <a:off x="3144900" y="34378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8" name="Google Shape;438;p48"/>
          <p:cNvSpPr/>
          <p:nvPr/>
        </p:nvSpPr>
        <p:spPr>
          <a:xfrm flipH="1">
            <a:off x="3144900" y="2581602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9" name="Google Shape;439;p48"/>
          <p:cNvSpPr/>
          <p:nvPr/>
        </p:nvSpPr>
        <p:spPr>
          <a:xfrm flipH="1">
            <a:off x="3144900" y="1718827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0" name="Google Shape;440;p48"/>
          <p:cNvSpPr/>
          <p:nvPr/>
        </p:nvSpPr>
        <p:spPr>
          <a:xfrm flipH="1">
            <a:off x="3144900" y="856153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1" name="Google Shape;441;p48"/>
          <p:cNvSpPr/>
          <p:nvPr/>
        </p:nvSpPr>
        <p:spPr>
          <a:xfrm flipH="1">
            <a:off x="3144899" y="-200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2" name="Google Shape;442;p48"/>
          <p:cNvSpPr/>
          <p:nvPr/>
        </p:nvSpPr>
        <p:spPr>
          <a:xfrm flipH="1">
            <a:off x="3144900" y="43006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paces to add section titles" id="443" name="Google Shape;443;p48"/>
          <p:cNvSpPr txBox="1"/>
          <p:nvPr>
            <p:ph idx="1" type="subTitle"/>
          </p:nvPr>
        </p:nvSpPr>
        <p:spPr>
          <a:xfrm>
            <a:off x="411875" y="285750"/>
            <a:ext cx="2156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FF9900"/>
                </a:solidFill>
              </a:rPr>
              <a:t>Agenda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descr="Spaces to add section titles" id="444" name="Google Shape;444;p48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D9D2E9"/>
                </a:solidFill>
              </a:rPr>
              <a:t>Roster Overview</a:t>
            </a:r>
            <a:endParaRPr>
              <a:solidFill>
                <a:srgbClr val="D9D2E9"/>
              </a:solidFill>
            </a:endParaRPr>
          </a:p>
        </p:txBody>
      </p:sp>
      <p:sp>
        <p:nvSpPr>
          <p:cNvPr descr="Spaces to add section titles" id="445" name="Google Shape;445;p48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B4A7D6"/>
                </a:solidFill>
              </a:rPr>
              <a:t>Season Development</a:t>
            </a:r>
            <a:endParaRPr>
              <a:solidFill>
                <a:srgbClr val="B4A7D6"/>
              </a:solidFill>
            </a:endParaRPr>
          </a:p>
        </p:txBody>
      </p:sp>
      <p:sp>
        <p:nvSpPr>
          <p:cNvPr descr="Spaces to add section titles" id="446" name="Google Shape;446;p48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8E7CC3"/>
                </a:solidFill>
              </a:rPr>
              <a:t>Offense</a:t>
            </a:r>
            <a:endParaRPr>
              <a:solidFill>
                <a:srgbClr val="8E7CC3"/>
              </a:solidFill>
            </a:endParaRPr>
          </a:p>
        </p:txBody>
      </p:sp>
      <p:sp>
        <p:nvSpPr>
          <p:cNvPr descr="Spaces to add section titles" id="447" name="Google Shape;447;p48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674EA7"/>
                </a:solidFill>
              </a:rPr>
              <a:t>Pitching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descr="Spaces to add section titles" id="448" name="Google Shape;448;p48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351C75"/>
                </a:solidFill>
              </a:rPr>
              <a:t>Leadership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descr="Spaces to add section titles" id="449" name="Google Shape;449;p48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rgbClr val="20124D"/>
                </a:solidFill>
              </a:rPr>
              <a:t>Next Season</a:t>
            </a:r>
            <a:endParaRPr sz="1200">
              <a:solidFill>
                <a:srgbClr val="20124D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heme title" id="454" name="Google Shape;454;p49"/>
          <p:cNvSpPr txBox="1"/>
          <p:nvPr>
            <p:ph idx="2" type="title"/>
          </p:nvPr>
        </p:nvSpPr>
        <p:spPr>
          <a:xfrm>
            <a:off x="516600" y="486575"/>
            <a:ext cx="43620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3000"/>
              <a:t>Unranked to #11</a:t>
            </a:r>
            <a:endParaRPr sz="3000"/>
          </a:p>
        </p:txBody>
      </p:sp>
      <p:sp>
        <p:nvSpPr>
          <p:cNvPr descr="Space to add the employee's name" id="455" name="Google Shape;455;p49"/>
          <p:cNvSpPr txBox="1"/>
          <p:nvPr>
            <p:ph type="title"/>
          </p:nvPr>
        </p:nvSpPr>
        <p:spPr>
          <a:xfrm>
            <a:off x="5821575" y="1709925"/>
            <a:ext cx="28827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1400"/>
              <a:t>Clemson was the 30th best team in the country according to USA Softball voters (Preseason Poll).</a:t>
            </a:r>
            <a:endParaRPr b="0" sz="1400"/>
          </a:p>
        </p:txBody>
      </p:sp>
      <p:sp>
        <p:nvSpPr>
          <p:cNvPr descr="Space to add information about this employee" id="456" name="Google Shape;456;p49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Space to add a bio about this employee" id="457" name="Google Shape;457;p49"/>
          <p:cNvSpPr txBox="1"/>
          <p:nvPr>
            <p:ph idx="4" type="subTitle"/>
          </p:nvPr>
        </p:nvSpPr>
        <p:spPr>
          <a:xfrm>
            <a:off x="5821575" y="2608125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https://www.ncaa.com/news/softball/article/2025-01-21/texas-tops-2025-preseason-espncom/usa-softball-poll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Space to add the employee's email" id="458" name="Google Shape;458;p49"/>
          <p:cNvSpPr txBox="1"/>
          <p:nvPr>
            <p:ph idx="7" type="subTitle"/>
          </p:nvPr>
        </p:nvSpPr>
        <p:spPr>
          <a:xfrm>
            <a:off x="5821575" y="32672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As we know, they ended up hosting Regionals and making it to Super Regionals, after winning the ACC Championship.</a:t>
            </a:r>
            <a:endParaRPr sz="1400"/>
          </a:p>
        </p:txBody>
      </p:sp>
      <p:pic>
        <p:nvPicPr>
          <p:cNvPr id="459" name="Google Shape;459;p49" title="images (3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800" y="1632148"/>
            <a:ext cx="2425775" cy="1375691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0" name="Google Shape;460;p49" title="images (4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5525" y="3301050"/>
            <a:ext cx="2221975" cy="1478625"/>
          </a:xfrm>
          <a:prstGeom prst="rect">
            <a:avLst/>
          </a:prstGeom>
          <a:noFill/>
          <a:ln cap="flat" cmpd="sng" w="1905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"/>
          <p:cNvSpPr txBox="1"/>
          <p:nvPr>
            <p:ph type="title"/>
          </p:nvPr>
        </p:nvSpPr>
        <p:spPr>
          <a:xfrm>
            <a:off x="871400" y="7177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Roster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66" name="Google Shape;466;p50"/>
          <p:cNvSpPr txBox="1"/>
          <p:nvPr>
            <p:ph idx="2" type="title"/>
          </p:nvPr>
        </p:nvSpPr>
        <p:spPr>
          <a:xfrm>
            <a:off x="796050" y="1795275"/>
            <a:ext cx="4058700" cy="24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lang="en">
                <a:solidFill>
                  <a:srgbClr val="351C75"/>
                </a:solidFill>
              </a:rPr>
              <a:t>7 Freshmen</a:t>
            </a:r>
            <a:endParaRPr>
              <a:solidFill>
                <a:srgbClr val="351C75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lang="en">
                <a:solidFill>
                  <a:srgbClr val="351C75"/>
                </a:solidFill>
              </a:rPr>
              <a:t>6 Sophomores</a:t>
            </a:r>
            <a:endParaRPr>
              <a:solidFill>
                <a:srgbClr val="351C75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lang="en">
                <a:solidFill>
                  <a:srgbClr val="351C75"/>
                </a:solidFill>
              </a:rPr>
              <a:t>2 Juniors</a:t>
            </a:r>
            <a:endParaRPr>
              <a:solidFill>
                <a:srgbClr val="351C75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lang="en">
                <a:solidFill>
                  <a:srgbClr val="351C75"/>
                </a:solidFill>
              </a:rPr>
              <a:t>7 Seniors</a:t>
            </a:r>
            <a:endParaRPr>
              <a:solidFill>
                <a:srgbClr val="351C75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lang="en">
                <a:solidFill>
                  <a:srgbClr val="351C75"/>
                </a:solidFill>
              </a:rPr>
              <a:t>Does not follow most collegiate sports in NIL-era</a:t>
            </a:r>
            <a:endParaRPr>
              <a:solidFill>
                <a:srgbClr val="351C75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lang="en">
                <a:solidFill>
                  <a:srgbClr val="351C75"/>
                </a:solidFill>
              </a:rPr>
              <a:t>Senior impact, but underclassmen core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467" name="Google Shape;467;p50" title="Screenshot 2025-12-03 1642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075" y="1626400"/>
            <a:ext cx="4058850" cy="2596767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1"/>
          <p:cNvSpPr txBox="1"/>
          <p:nvPr>
            <p:ph type="title"/>
          </p:nvPr>
        </p:nvSpPr>
        <p:spPr>
          <a:xfrm>
            <a:off x="941650" y="795275"/>
            <a:ext cx="348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Season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473" name="Google Shape;473;p51" title="Screenshot 2025-12-03 1727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500" y="2571750"/>
            <a:ext cx="3863507" cy="1875749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4" name="Google Shape;474;p51" title="Screenshot 2025-12-03 1728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175" y="554187"/>
            <a:ext cx="3786149" cy="1875736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5" name="Google Shape;475;p51"/>
          <p:cNvSpPr txBox="1"/>
          <p:nvPr/>
        </p:nvSpPr>
        <p:spPr>
          <a:xfrm>
            <a:off x="798725" y="1524000"/>
            <a:ext cx="3539700" cy="28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Early season slump: 3–6 start through mid-February</a:t>
            </a:r>
            <a:br>
              <a:rPr lang="en" sz="16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</a:br>
            <a:endParaRPr sz="16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Dramatic turnaround begins Feb 16</a:t>
            </a:r>
            <a:br>
              <a:rPr lang="en" sz="16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</a:br>
            <a:endParaRPr sz="16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15-game winning streak carries team into March</a:t>
            </a:r>
            <a:br>
              <a:rPr lang="en" sz="16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</a:br>
            <a:endParaRPr sz="16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Steady climb afterward, finished with 48 wins</a:t>
            </a:r>
            <a:endParaRPr sz="16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/>
          <p:nvPr>
            <p:ph type="title"/>
          </p:nvPr>
        </p:nvSpPr>
        <p:spPr>
          <a:xfrm>
            <a:off x="284175" y="285750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6"/>
                </a:solidFill>
              </a:rPr>
              <a:t>Offense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81" name="Google Shape;481;p52"/>
          <p:cNvSpPr txBox="1"/>
          <p:nvPr>
            <p:ph idx="2" type="title"/>
          </p:nvPr>
        </p:nvSpPr>
        <p:spPr>
          <a:xfrm>
            <a:off x="259575" y="940450"/>
            <a:ext cx="4430700" cy="378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CB9C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9CB9C"/>
                </a:solidFill>
              </a:rPr>
              <a:t>Offense averaged 7.1 runs per game, consistently outscoring opponents.</a:t>
            </a:r>
            <a:br>
              <a:rPr lang="en" sz="1000">
                <a:solidFill>
                  <a:srgbClr val="F9CB9C"/>
                </a:solidFill>
              </a:rPr>
            </a:br>
            <a:endParaRPr sz="1000">
              <a:solidFill>
                <a:srgbClr val="F9CB9C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9CB9C"/>
                </a:solidFill>
              </a:rPr>
              <a:t>Maddie Moore drove the engine: 71 RBI, 17 HR — centerpiece of production.</a:t>
            </a:r>
            <a:br>
              <a:rPr lang="en" sz="1000">
                <a:solidFill>
                  <a:srgbClr val="F9CB9C"/>
                </a:solidFill>
              </a:rPr>
            </a:br>
            <a:endParaRPr sz="1000">
              <a:solidFill>
                <a:srgbClr val="F9CB9C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9CB9C"/>
                </a:solidFill>
              </a:rPr>
              <a:t>Julia Knowler and Macey Cintron added premium power (15 &amp; 14 HR).</a:t>
            </a:r>
            <a:br>
              <a:rPr lang="en" sz="1000">
                <a:solidFill>
                  <a:srgbClr val="F9CB9C"/>
                </a:solidFill>
              </a:rPr>
            </a:br>
            <a:endParaRPr sz="1000">
              <a:solidFill>
                <a:srgbClr val="F9CB9C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9CB9C"/>
                </a:solidFill>
              </a:rPr>
              <a:t>Marian Collins rounded out the middle with 47 RBI and 11 HR.</a:t>
            </a:r>
            <a:br>
              <a:rPr lang="en" sz="1000">
                <a:solidFill>
                  <a:srgbClr val="F9CB9C"/>
                </a:solidFill>
              </a:rPr>
            </a:br>
            <a:endParaRPr sz="1000">
              <a:solidFill>
                <a:srgbClr val="F9CB9C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9CB9C"/>
                </a:solidFill>
              </a:rPr>
              <a:t>Alex Brown led in runs scored and still cracked top-5 RBI → elite table-setter.</a:t>
            </a:r>
            <a:br>
              <a:rPr lang="en" sz="1000">
                <a:solidFill>
                  <a:srgbClr val="F9CB9C"/>
                </a:solidFill>
              </a:rPr>
            </a:br>
            <a:endParaRPr sz="1000">
              <a:solidFill>
                <a:srgbClr val="F9CB9C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9CB9C"/>
                </a:solidFill>
              </a:rPr>
              <a:t>Four players with double-digit home runs show a deep, dangerous lineup.</a:t>
            </a:r>
            <a:br>
              <a:rPr lang="en" sz="1000">
                <a:solidFill>
                  <a:srgbClr val="F9CB9C"/>
                </a:solidFill>
              </a:rPr>
            </a:br>
            <a:endParaRPr sz="1000">
              <a:solidFill>
                <a:srgbClr val="F9CB9C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1100"/>
              <a:buFont typeface="Arial"/>
              <a:buChar char="●"/>
            </a:pPr>
            <a:r>
              <a:rPr lang="en" sz="1000">
                <a:solidFill>
                  <a:srgbClr val="F9CB9C"/>
                </a:solidFill>
              </a:rPr>
              <a:t>Game-by-game scoring shows Clemson repeatedly putting up big innings, overpowering opponents.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9CB9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82" name="Google Shape;482;p52" title="Screenshot 2025-12-03 1841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5615" y="940453"/>
            <a:ext cx="1883032" cy="101259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3" name="Google Shape;483;p52" title="Screenshot 2025-12-03 1841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175" y="285750"/>
            <a:ext cx="3744524" cy="2061397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4" name="Google Shape;484;p52" title="Screenshot 2025-12-03 1841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175" y="2709562"/>
            <a:ext cx="3744526" cy="2013584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/>
          <p:nvPr>
            <p:ph idx="2" type="title"/>
          </p:nvPr>
        </p:nvSpPr>
        <p:spPr>
          <a:xfrm>
            <a:off x="565300" y="586825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Pitching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0" name="Google Shape;490;p53" title="Screenshot 2025-12-03 1841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776" y="585682"/>
            <a:ext cx="3605326" cy="1876633"/>
          </a:xfrm>
          <a:prstGeom prst="rect">
            <a:avLst/>
          </a:prstGeom>
          <a:noFill/>
          <a:ln cap="flat" cmpd="sng" w="1905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1" name="Google Shape;491;p53" title="Screenshot 2025-12-03 1841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3779" y="2571750"/>
            <a:ext cx="3605319" cy="2001811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2" name="Google Shape;492;p53"/>
          <p:cNvSpPr txBox="1"/>
          <p:nvPr/>
        </p:nvSpPr>
        <p:spPr>
          <a:xfrm>
            <a:off x="565300" y="1153850"/>
            <a:ext cx="4119600" cy="3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Staff anchored by senior arms: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○"/>
            </a:pPr>
            <a:r>
              <a:rPr lang="en" sz="1000">
                <a:solidFill>
                  <a:srgbClr val="B4A7D6"/>
                </a:solidFill>
              </a:rPr>
              <a:t>Reese Basinger: 174 IP (true ace workload)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○"/>
            </a:pPr>
            <a:r>
              <a:rPr lang="en" sz="1000">
                <a:solidFill>
                  <a:srgbClr val="B4A7D6"/>
                </a:solidFill>
              </a:rPr>
              <a:t>Brooke McCubbin: 136 IP (steady #2 starter)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Macey Cintron offered strong freshman contributions (~60 IP).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High strike percentages across staff (63–65%) attack-the-zone pitching philosophy.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Command limited walks, forced hitters to earn everything, and complemented the high-scoring offense.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Pitching and offense meshed: Clemson scored often and pitchers avoided self-inflicted damage.</a:t>
            </a:r>
            <a:endParaRPr sz="1000">
              <a:solidFill>
                <a:srgbClr val="B4A7D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/>
          <p:nvPr/>
        </p:nvSpPr>
        <p:spPr>
          <a:xfrm>
            <a:off x="1294350" y="114045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98" name="Google Shape;498;p54"/>
          <p:cNvSpPr txBox="1"/>
          <p:nvPr>
            <p:ph idx="8" type="title"/>
          </p:nvPr>
        </p:nvSpPr>
        <p:spPr>
          <a:xfrm>
            <a:off x="459325" y="28575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Leadership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200"/>
          </a:p>
        </p:txBody>
      </p:sp>
      <p:pic>
        <p:nvPicPr>
          <p:cNvPr id="499" name="Google Shape;499;p54" title="Screenshot 2025-12-03 2058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25" y="809750"/>
            <a:ext cx="3372899" cy="2202025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0" name="Google Shape;500;p54" title="Screenshot 2025-12-03 2059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7925" y="809750"/>
            <a:ext cx="3372900" cy="2175107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1" name="Google Shape;501;p54"/>
          <p:cNvSpPr txBox="1"/>
          <p:nvPr/>
        </p:nvSpPr>
        <p:spPr>
          <a:xfrm>
            <a:off x="542500" y="3356250"/>
            <a:ext cx="3372900" cy="16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en" sz="1100">
                <a:solidFill>
                  <a:srgbClr val="351C75"/>
                </a:solidFill>
              </a:rPr>
              <a:t>Seniors produced the largest share of RBI, leading the scoring.</a:t>
            </a:r>
            <a:br>
              <a:rPr lang="en" sz="1100">
                <a:solidFill>
                  <a:srgbClr val="351C75"/>
                </a:solidFill>
              </a:rPr>
            </a:br>
            <a:endParaRPr sz="1100">
              <a:solidFill>
                <a:srgbClr val="351C7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en" sz="1100">
                <a:solidFill>
                  <a:srgbClr val="351C75"/>
                </a:solidFill>
              </a:rPr>
              <a:t>Underclassmen (FR/SO) still provided a meaningful portion of total RBI.</a:t>
            </a:r>
            <a:br>
              <a:rPr lang="en" sz="1100">
                <a:solidFill>
                  <a:srgbClr val="351C75"/>
                </a:solidFill>
              </a:rPr>
            </a:br>
            <a:endParaRPr sz="1100">
              <a:solidFill>
                <a:srgbClr val="351C7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en" sz="1100">
                <a:solidFill>
                  <a:srgbClr val="351C75"/>
                </a:solidFill>
              </a:rPr>
              <a:t>Offense was led by veterans but supported by a strong young core.</a:t>
            </a:r>
            <a:endParaRPr sz="11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2" name="Google Shape;502;p54"/>
          <p:cNvSpPr txBox="1"/>
          <p:nvPr/>
        </p:nvSpPr>
        <p:spPr>
          <a:xfrm>
            <a:off x="5437925" y="3277600"/>
            <a:ext cx="3372900" cy="16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en" sz="1100">
                <a:solidFill>
                  <a:srgbClr val="351C75"/>
                </a:solidFill>
              </a:rPr>
              <a:t>Senior pitchers handled the majority of innings, showing who carried the staff.</a:t>
            </a:r>
            <a:br>
              <a:rPr lang="en" sz="1100">
                <a:solidFill>
                  <a:srgbClr val="351C75"/>
                </a:solidFill>
              </a:rPr>
            </a:br>
            <a:endParaRPr sz="11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en" sz="1100">
                <a:solidFill>
                  <a:srgbClr val="351C75"/>
                </a:solidFill>
              </a:rPr>
              <a:t>Younger pitchers (FR/SO) already have real game experience, not just mop-up work.</a:t>
            </a:r>
            <a:br>
              <a:rPr lang="en" sz="1100">
                <a:solidFill>
                  <a:srgbClr val="351C75"/>
                </a:solidFill>
              </a:rPr>
            </a:br>
            <a:endParaRPr sz="1100">
              <a:solidFill>
                <a:srgbClr val="351C7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Char char="●"/>
            </a:pPr>
            <a:r>
              <a:rPr lang="en" sz="1100">
                <a:solidFill>
                  <a:srgbClr val="351C75"/>
                </a:solidFill>
              </a:rPr>
              <a:t>Workload distribution highlights veteran leadership on the mound with a clear pipeline behind them.</a:t>
            </a:r>
            <a:br>
              <a:rPr lang="en" sz="1100">
                <a:solidFill>
                  <a:srgbClr val="8E7CC3"/>
                </a:solidFill>
              </a:rPr>
            </a:br>
            <a:endParaRPr sz="1100">
              <a:solidFill>
                <a:srgbClr val="8E7CC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474675" y="28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Next Season: Going Forward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508" name="Google Shape;508;p55" title="Screenshot 2025-12-03 2109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925" y="779900"/>
            <a:ext cx="2987999" cy="2214451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9" name="Google Shape;509;p55" title="Screenshot 2025-12-03 2109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800" y="779900"/>
            <a:ext cx="2755101" cy="2214449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0" name="Google Shape;510;p55"/>
          <p:cNvSpPr txBox="1"/>
          <p:nvPr/>
        </p:nvSpPr>
        <p:spPr>
          <a:xfrm>
            <a:off x="1004600" y="3297275"/>
            <a:ext cx="6931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Seniors account for a huge chunk of total RBI and innings pitched.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Offensively, you lose the production of Moore/Brown and other SR bats.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On the mound, most of the high-volume innings were thrown by SR arms.</a:t>
            </a:r>
            <a:br>
              <a:rPr lang="en" sz="1000">
                <a:solidFill>
                  <a:srgbClr val="B4A7D6"/>
                </a:solidFill>
              </a:rPr>
            </a:br>
            <a:endParaRPr sz="1000">
              <a:solidFill>
                <a:srgbClr val="B4A7D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000"/>
              <a:buChar char="●"/>
            </a:pPr>
            <a:r>
              <a:rPr lang="en" sz="1000">
                <a:solidFill>
                  <a:srgbClr val="B4A7D6"/>
                </a:solidFill>
              </a:rPr>
              <a:t>However, returning players still bring substantial RBI and innings, so this is a retool, not a total reset.</a:t>
            </a:r>
            <a:endParaRPr sz="1000">
              <a:solidFill>
                <a:srgbClr val="B4A7D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"/>
          <p:cNvSpPr txBox="1"/>
          <p:nvPr>
            <p:ph type="title"/>
          </p:nvPr>
        </p:nvSpPr>
        <p:spPr>
          <a:xfrm>
            <a:off x="284175" y="28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Next Season: Going Forward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516" name="Google Shape;516;p56" title="Screenshot 2025-12-03 2110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875" y="2926722"/>
            <a:ext cx="3625324" cy="1931028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7" name="Google Shape;517;p56"/>
          <p:cNvSpPr txBox="1"/>
          <p:nvPr/>
        </p:nvSpPr>
        <p:spPr>
          <a:xfrm>
            <a:off x="365500" y="849025"/>
            <a:ext cx="3824700" cy="3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Even after graduation, Clemson returns real power: Knowler, Cintron, Collins and others with double-digit HR potential</a:t>
            </a:r>
            <a:b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</a:b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Returning hitters already have proven RBI and HR totals, not just small-sample flashes</a:t>
            </a:r>
            <a:b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</a:b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On the mound, underclass pitchers bring back meaningful innings, giving a base rotation to build around</a:t>
            </a:r>
            <a:b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</a:b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These charts show why 2025 is a launchpad year: key seniors leave, but the statistical core of the next wave is already established</a:t>
            </a: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B4A7D6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Clemson currently has the 15th ranked incoming recruiting class (</a:t>
            </a:r>
            <a:r>
              <a:rPr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https://www.on3.com/rivals/rankings/team/softball/2026/</a:t>
            </a:r>
            <a:r>
              <a:rPr lang="en" sz="1200">
                <a:solidFill>
                  <a:srgbClr val="B4A7D6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B4A7D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18" name="Google Shape;518;p56" title="Screenshot 2025-12-03 2110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4524" y="772250"/>
            <a:ext cx="3186090" cy="170425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